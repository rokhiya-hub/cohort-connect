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5D12"/>
    <a:srgbClr val="1D3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084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59843-54CA-DBB7-56FD-20D605DD9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E2FB1-BBFD-8F52-1555-A2470F141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8B4CB-93FC-C53D-DC2D-E6EC83B89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E6A37-4956-FED0-3D1A-CDD8CC4DB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57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365760"/>
            <a:ext cx="1645920" cy="1645920"/>
          </a:xfrm>
          <a:prstGeom prst="ellipse">
            <a:avLst/>
          </a:prstGeom>
          <a:solidFill>
            <a:srgbClr val="E3562B">
              <a:alpha val="30000"/>
            </a:srgbClr>
          </a:solidFill>
          <a:ln w="12700">
            <a:solidFill>
              <a:srgbClr val="E3562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07366"/>
            <a:ext cx="3031588" cy="480060"/>
          </a:xfrm>
          <a:prstGeom prst="roundRect">
            <a:avLst>
              <a:gd name="adj" fmla="val 39474"/>
            </a:avLst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07366"/>
            <a:ext cx="2743200" cy="44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KNOWLEDGE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 </a:t>
            </a:r>
            <a:r>
              <a:rPr lang="en-US" sz="4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Bridging the Gap Between Seniors &amp; Juniors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campus-oriented social networking &amp; knowledge-sharing platform for students, faculty, and institutions.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768948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Presented by Team CohortConnect  •  PS-116</a:t>
            </a:r>
            <a:endParaRPr lang="en-US" sz="1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5A880E9C-F998-877A-C74E-B102C4E99B64}"/>
              </a:ext>
            </a:extLst>
          </p:cNvPr>
          <p:cNvSpPr/>
          <p:nvPr/>
        </p:nvSpPr>
        <p:spPr>
          <a:xfrm>
            <a:off x="6154615" y="2799471"/>
            <a:ext cx="28627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Rokhiya</a:t>
            </a:r>
            <a:endParaRPr lang="en-US" sz="1600" dirty="0">
              <a:solidFill>
                <a:srgbClr val="7F7F7F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Likhitha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Keerthana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Vyshnavi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0B86EC-6995-3FDA-758C-D67E0C433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118" y="998579"/>
            <a:ext cx="1990164" cy="15582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85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09728" cy="413766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25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Guidance Platform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02920" y="17830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First-year students lack a dedicated platform to connect with seniors for mentorship and guidance.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5331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325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Knowledge Gets Lost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937760" y="17830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Valuable senior experiences — interview tips, internships, hackathons — never reach juniors effectively.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2004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0175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8211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Scattered Communication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02920" y="36118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information is fragmented across WhatsApp, emails, and notice boards with no central hub.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0175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8211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Missed Opportunities</a:t>
            </a: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937760" y="36118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miss internships, hackathons, and government exams due to lack of timely, structured alerts.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485"/>
            <a:ext cx="914400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85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685800"/>
          </a:xfrm>
          <a:prstGeom prst="rect">
            <a:avLst/>
          </a:prstGeom>
          <a:solidFill>
            <a:srgbClr val="E3562B">
              <a:alpha val="12000"/>
            </a:srgbClr>
          </a:solidFill>
          <a:ln w="12700">
            <a:solidFill>
              <a:srgbClr val="E3562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CohortConnect — A campus platform where seniors share knowledge, institutions post updates, and students grow together.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92024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5681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&amp; Share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38328" y="23317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LinkedIn-style posts with images, videos (≤3 min), PDFs, and resource links.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5468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92024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9568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Content Gen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64408" y="23317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 event posters &amp; videos from a short prompt using integrated AI tools.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8076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92024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95681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56248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Leaderboard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90488" y="23317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Gamified rankings based on likes, comments, shares, views &amp; post quality.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22860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28600" y="342900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46557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33832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1-on-1 messaging via Socket.IO for direct student communication.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15468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54680" y="342900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465576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30168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Reminders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Deadline notifications sent 1 day &amp; 6 hours before saved post deadlines</a:t>
            </a: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08076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80760" y="342900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465576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56248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Verification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19048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verifies authenticity of global opportunities (hackathons, internships).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&amp; Technology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53619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88366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94944" y="15544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registers &amp; sets up profile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" y="208483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243230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94944" y="210312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 feed or create a post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" y="263347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298094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94944" y="26517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media, tags, deadline &amp; publish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6032" y="318211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" y="352958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94944" y="32004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verifies global event authenticity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6032" y="373075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" y="407822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94944" y="37490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engages: like, comment, share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032" y="427939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" y="42976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 post deadline → push notification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34840" y="1051560"/>
            <a:ext cx="0" cy="3931920"/>
          </a:xfrm>
          <a:prstGeom prst="line">
            <a:avLst/>
          </a:prstGeom>
          <a:noFill/>
          <a:ln w="12700">
            <a:solidFill>
              <a:srgbClr val="D0C8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097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608575" y="1444752"/>
            <a:ext cx="2481541" cy="26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</a:p>
          <a:p>
            <a:pPr marL="0" indent="0" algn="l">
              <a:buNone/>
            </a:pPr>
            <a:endParaRPr lang="en-US" sz="1100" b="1" dirty="0">
              <a:solidFill>
                <a:srgbClr val="E3562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480560" y="1317658"/>
            <a:ext cx="4169665" cy="131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50" dirty="0">
              <a:solidFill>
                <a:srgbClr val="1D3639"/>
              </a:solidFill>
              <a:latin typeface="Poppins" pitchFamily="34" charset="0"/>
              <a:cs typeface="Poppins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80560" y="2332425"/>
            <a:ext cx="2883863" cy="560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Backend</a:t>
            </a:r>
            <a:endParaRPr lang="en-US" sz="1100" b="1" dirty="0">
              <a:solidFill>
                <a:schemeClr val="tx1">
                  <a:lumMod val="95000"/>
                  <a:lumOff val="5000"/>
                </a:scheme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algn="l"/>
            <a:endParaRPr lang="en-US" sz="1100" b="1" dirty="0">
              <a:solidFill>
                <a:schemeClr val="bg2">
                  <a:lumMod val="50000"/>
                </a:schemeClr>
              </a:solidFill>
              <a:latin typeface="Poppins" pitchFamily="34" charset="0"/>
              <a:cs typeface="Poppins" pitchFamily="34" charset="-120"/>
            </a:endParaRP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65893" y="3370621"/>
            <a:ext cx="2124223" cy="378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b="1" dirty="0">
              <a:solidFill>
                <a:srgbClr val="E3562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394960" y="3035808"/>
            <a:ext cx="1695156" cy="277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3256670"/>
            <a:ext cx="3383280" cy="199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09161" y="3161714"/>
            <a:ext cx="18428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08574" y="3370622"/>
            <a:ext cx="132829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C5D12"/>
                </a:solidFill>
              </a:rPr>
              <a:t>Database</a:t>
            </a:r>
          </a:p>
        </p:txBody>
      </p:sp>
      <p:sp>
        <p:nvSpPr>
          <p:cNvPr id="50" name="Text 48"/>
          <p:cNvSpPr/>
          <p:nvPr/>
        </p:nvSpPr>
        <p:spPr>
          <a:xfrm>
            <a:off x="5394958" y="4783015"/>
            <a:ext cx="3383282" cy="200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109459-C61E-9A49-7A53-EE1F26528331}"/>
              </a:ext>
            </a:extLst>
          </p:cNvPr>
          <p:cNvSpPr txBox="1"/>
          <p:nvPr/>
        </p:nvSpPr>
        <p:spPr>
          <a:xfrm>
            <a:off x="4594816" y="2570402"/>
            <a:ext cx="31002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Express.js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MongoDB Community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Mongoose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D95AAF-808B-1DBA-A4BC-1148B3783F91}"/>
              </a:ext>
            </a:extLst>
          </p:cNvPr>
          <p:cNvSpPr txBox="1"/>
          <p:nvPr/>
        </p:nvSpPr>
        <p:spPr>
          <a:xfrm>
            <a:off x="4608575" y="1629039"/>
            <a:ext cx="22529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Vite@latest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React 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React Router v6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DA6925-0FC9-0884-00A4-581EBFDA66E3}"/>
              </a:ext>
            </a:extLst>
          </p:cNvPr>
          <p:cNvSpPr txBox="1"/>
          <p:nvPr/>
        </p:nvSpPr>
        <p:spPr>
          <a:xfrm>
            <a:off x="7308174" y="1665130"/>
            <a:ext cx="13958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Axios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CSS3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JavaScript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768BFC-5FAF-107D-AA63-EF2F1B931427}"/>
              </a:ext>
            </a:extLst>
          </p:cNvPr>
          <p:cNvSpPr txBox="1"/>
          <p:nvPr/>
        </p:nvSpPr>
        <p:spPr>
          <a:xfrm>
            <a:off x="7323994" y="2570402"/>
            <a:ext cx="16163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JWT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Bcryptjs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Node-schedule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JavaScript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A32A3F-1D01-31C1-6144-49529C6F7420}"/>
              </a:ext>
            </a:extLst>
          </p:cNvPr>
          <p:cNvSpPr txBox="1"/>
          <p:nvPr/>
        </p:nvSpPr>
        <p:spPr>
          <a:xfrm>
            <a:off x="4528659" y="3895140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CC5D12"/>
                </a:solidFill>
              </a:rPr>
              <a:t>Flask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434AB4-7814-9176-A030-7B15E9708FAB}"/>
              </a:ext>
            </a:extLst>
          </p:cNvPr>
          <p:cNvSpPr txBox="1"/>
          <p:nvPr/>
        </p:nvSpPr>
        <p:spPr>
          <a:xfrm>
            <a:off x="4528658" y="4119671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CC5D12"/>
                </a:solidFill>
              </a:rPr>
              <a:t>Python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5199B6-403E-8CF9-A8C2-74E5089FABBF}"/>
              </a:ext>
            </a:extLst>
          </p:cNvPr>
          <p:cNvSpPr txBox="1"/>
          <p:nvPr/>
        </p:nvSpPr>
        <p:spPr>
          <a:xfrm>
            <a:off x="4605412" y="3686232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MongoDB Community Server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13A1F3-4F28-AC4B-4522-CC842A8D699D}"/>
              </a:ext>
            </a:extLst>
          </p:cNvPr>
          <p:cNvSpPr txBox="1"/>
          <p:nvPr/>
        </p:nvSpPr>
        <p:spPr>
          <a:xfrm>
            <a:off x="4608575" y="4440079"/>
            <a:ext cx="4328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Math animation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763F5-AE17-79D5-EE35-4D9D59C2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056B1B-DFE2-028A-E72C-2E6BDC940116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408CDC-ACBB-519B-7995-CA34AC322685}"/>
              </a:ext>
            </a:extLst>
          </p:cNvPr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&amp; Technology Stack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C8272A-B823-F225-BEC8-290226E378F6}"/>
              </a:ext>
            </a:extLst>
          </p:cNvPr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Workflow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2B0481D-CA45-56FF-F1FE-7EB3AFE56C89}"/>
              </a:ext>
            </a:extLst>
          </p:cNvPr>
          <p:cNvSpPr/>
          <p:nvPr/>
        </p:nvSpPr>
        <p:spPr>
          <a:xfrm>
            <a:off x="256032" y="153619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FA29FF-B12C-E783-5375-71EE822EF8C6}"/>
              </a:ext>
            </a:extLst>
          </p:cNvPr>
          <p:cNvSpPr/>
          <p:nvPr/>
        </p:nvSpPr>
        <p:spPr>
          <a:xfrm>
            <a:off x="256032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08E0A7-5E27-9C9C-AAFC-1176EE1EB908}"/>
              </a:ext>
            </a:extLst>
          </p:cNvPr>
          <p:cNvSpPr/>
          <p:nvPr/>
        </p:nvSpPr>
        <p:spPr>
          <a:xfrm>
            <a:off x="429768" y="188366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BFB077B-FBF0-EE1D-A1AE-2F804A40FA49}"/>
              </a:ext>
            </a:extLst>
          </p:cNvPr>
          <p:cNvSpPr/>
          <p:nvPr/>
        </p:nvSpPr>
        <p:spPr>
          <a:xfrm>
            <a:off x="694944" y="15544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registers &amp; sets up profile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EF5B3BE-D6B5-622A-D879-BC8FA0327412}"/>
              </a:ext>
            </a:extLst>
          </p:cNvPr>
          <p:cNvSpPr/>
          <p:nvPr/>
        </p:nvSpPr>
        <p:spPr>
          <a:xfrm>
            <a:off x="256032" y="208483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7EA6111-1ED1-5646-7CCB-329253EABA2E}"/>
              </a:ext>
            </a:extLst>
          </p:cNvPr>
          <p:cNvSpPr/>
          <p:nvPr/>
        </p:nvSpPr>
        <p:spPr>
          <a:xfrm>
            <a:off x="256032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5E053D4-CD2C-BE1E-D07B-4E4C87557E85}"/>
              </a:ext>
            </a:extLst>
          </p:cNvPr>
          <p:cNvSpPr/>
          <p:nvPr/>
        </p:nvSpPr>
        <p:spPr>
          <a:xfrm>
            <a:off x="429768" y="243230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01F8502-BFAE-5519-9DD2-57F68479DFBE}"/>
              </a:ext>
            </a:extLst>
          </p:cNvPr>
          <p:cNvSpPr/>
          <p:nvPr/>
        </p:nvSpPr>
        <p:spPr>
          <a:xfrm>
            <a:off x="694944" y="210312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 feed or create a post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F672920-1BC4-29E3-8F3E-B5A09CC414BC}"/>
              </a:ext>
            </a:extLst>
          </p:cNvPr>
          <p:cNvSpPr/>
          <p:nvPr/>
        </p:nvSpPr>
        <p:spPr>
          <a:xfrm>
            <a:off x="256032" y="263347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1B5516A-2C15-5AAF-3969-89D842F8CBBC}"/>
              </a:ext>
            </a:extLst>
          </p:cNvPr>
          <p:cNvSpPr/>
          <p:nvPr/>
        </p:nvSpPr>
        <p:spPr>
          <a:xfrm>
            <a:off x="256032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E2F2949-A710-0B40-8464-6A10AB070C06}"/>
              </a:ext>
            </a:extLst>
          </p:cNvPr>
          <p:cNvSpPr/>
          <p:nvPr/>
        </p:nvSpPr>
        <p:spPr>
          <a:xfrm>
            <a:off x="429768" y="298094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CAB718E-1448-0CE5-1A64-2929A62BA884}"/>
              </a:ext>
            </a:extLst>
          </p:cNvPr>
          <p:cNvSpPr/>
          <p:nvPr/>
        </p:nvSpPr>
        <p:spPr>
          <a:xfrm>
            <a:off x="694944" y="26517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media, tags, deadline &amp; publish</a:t>
            </a: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9EEA10F-D37E-82A0-B184-3FF4F926E79E}"/>
              </a:ext>
            </a:extLst>
          </p:cNvPr>
          <p:cNvSpPr/>
          <p:nvPr/>
        </p:nvSpPr>
        <p:spPr>
          <a:xfrm>
            <a:off x="256032" y="318211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C4F2A1A-82D5-2A06-53F2-829C28740CC8}"/>
              </a:ext>
            </a:extLst>
          </p:cNvPr>
          <p:cNvSpPr/>
          <p:nvPr/>
        </p:nvSpPr>
        <p:spPr>
          <a:xfrm>
            <a:off x="256032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7CA2BC8-4F0B-18C8-34A9-986D98EF6523}"/>
              </a:ext>
            </a:extLst>
          </p:cNvPr>
          <p:cNvSpPr/>
          <p:nvPr/>
        </p:nvSpPr>
        <p:spPr>
          <a:xfrm>
            <a:off x="429768" y="352958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B95F22E-3240-2A83-EBAC-F0C639918153}"/>
              </a:ext>
            </a:extLst>
          </p:cNvPr>
          <p:cNvSpPr/>
          <p:nvPr/>
        </p:nvSpPr>
        <p:spPr>
          <a:xfrm>
            <a:off x="694944" y="32004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verifies global event authenticity</a:t>
            </a:r>
            <a:endParaRPr lang="en-US" sz="16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2DF5214-4545-584C-38B9-FEC8557F7283}"/>
              </a:ext>
            </a:extLst>
          </p:cNvPr>
          <p:cNvSpPr/>
          <p:nvPr/>
        </p:nvSpPr>
        <p:spPr>
          <a:xfrm>
            <a:off x="256032" y="373075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465A9CA-66C0-E11F-B42A-D6618D365E06}"/>
              </a:ext>
            </a:extLst>
          </p:cNvPr>
          <p:cNvSpPr/>
          <p:nvPr/>
        </p:nvSpPr>
        <p:spPr>
          <a:xfrm>
            <a:off x="256032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5A5C38C-33CE-EBC4-FA60-1B31AFCB5914}"/>
              </a:ext>
            </a:extLst>
          </p:cNvPr>
          <p:cNvSpPr/>
          <p:nvPr/>
        </p:nvSpPr>
        <p:spPr>
          <a:xfrm>
            <a:off x="429768" y="407822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6BBEFAE-1EEF-95F0-6074-F6235168108D}"/>
              </a:ext>
            </a:extLst>
          </p:cNvPr>
          <p:cNvSpPr/>
          <p:nvPr/>
        </p:nvSpPr>
        <p:spPr>
          <a:xfrm>
            <a:off x="694944" y="37490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engages: like, comment, share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F0A3F87-7DB0-31DA-C231-775EF77EF80F}"/>
              </a:ext>
            </a:extLst>
          </p:cNvPr>
          <p:cNvSpPr/>
          <p:nvPr/>
        </p:nvSpPr>
        <p:spPr>
          <a:xfrm>
            <a:off x="256032" y="427939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8A3AC73-758C-0CE0-0279-F8F80612AE5B}"/>
              </a:ext>
            </a:extLst>
          </p:cNvPr>
          <p:cNvSpPr/>
          <p:nvPr/>
        </p:nvSpPr>
        <p:spPr>
          <a:xfrm>
            <a:off x="256032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D870E1A-D64E-D870-5567-4FBFA66532CC}"/>
              </a:ext>
            </a:extLst>
          </p:cNvPr>
          <p:cNvSpPr/>
          <p:nvPr/>
        </p:nvSpPr>
        <p:spPr>
          <a:xfrm>
            <a:off x="694944" y="42976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 post deadline → push notification</a:t>
            </a:r>
            <a:endParaRPr lang="en-US" sz="14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B3FDD06-4410-338B-FCFA-09DBA89482CB}"/>
              </a:ext>
            </a:extLst>
          </p:cNvPr>
          <p:cNvSpPr/>
          <p:nvPr/>
        </p:nvSpPr>
        <p:spPr>
          <a:xfrm>
            <a:off x="4434840" y="1051560"/>
            <a:ext cx="0" cy="3931920"/>
          </a:xfrm>
          <a:prstGeom prst="line">
            <a:avLst/>
          </a:prstGeom>
          <a:noFill/>
          <a:ln w="12700">
            <a:solidFill>
              <a:srgbClr val="D0C8B8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12ECB20-E23E-3F3F-E244-CA8BB630B095}"/>
              </a:ext>
            </a:extLst>
          </p:cNvPr>
          <p:cNvSpPr/>
          <p:nvPr/>
        </p:nvSpPr>
        <p:spPr>
          <a:xfrm>
            <a:off x="4572000" y="1097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7BD4378-427A-5EEF-64D8-4FECC7F9659B}"/>
              </a:ext>
            </a:extLst>
          </p:cNvPr>
          <p:cNvSpPr/>
          <p:nvPr/>
        </p:nvSpPr>
        <p:spPr>
          <a:xfrm>
            <a:off x="4608575" y="1444752"/>
            <a:ext cx="2481541" cy="26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</a:p>
          <a:p>
            <a:pPr marL="0" indent="0" algn="l">
              <a:buNone/>
            </a:pPr>
            <a:endParaRPr lang="en-US" sz="1100" b="1" dirty="0">
              <a:solidFill>
                <a:srgbClr val="E3562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A539875-D64B-F111-3366-C582647AE767}"/>
              </a:ext>
            </a:extLst>
          </p:cNvPr>
          <p:cNvSpPr/>
          <p:nvPr/>
        </p:nvSpPr>
        <p:spPr>
          <a:xfrm>
            <a:off x="4480560" y="1317658"/>
            <a:ext cx="4169665" cy="131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50" dirty="0">
              <a:solidFill>
                <a:srgbClr val="1D3639"/>
              </a:solidFill>
              <a:latin typeface="Poppins" pitchFamily="34" charset="0"/>
              <a:cs typeface="Poppins" pitchFamily="34" charset="-12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7F40107-937B-B2C1-94BA-7814BFAB9BE5}"/>
              </a:ext>
            </a:extLst>
          </p:cNvPr>
          <p:cNvSpPr/>
          <p:nvPr/>
        </p:nvSpPr>
        <p:spPr>
          <a:xfrm>
            <a:off x="4480560" y="2332425"/>
            <a:ext cx="2883863" cy="560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Backend</a:t>
            </a:r>
            <a:endParaRPr lang="en-US" sz="1100" b="1" dirty="0">
              <a:solidFill>
                <a:schemeClr val="tx1">
                  <a:lumMod val="95000"/>
                  <a:lumOff val="5000"/>
                </a:scheme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algn="l"/>
            <a:endParaRPr lang="en-US" sz="1100" b="1" dirty="0">
              <a:solidFill>
                <a:schemeClr val="bg2">
                  <a:lumMod val="50000"/>
                </a:schemeClr>
              </a:solidFill>
              <a:latin typeface="Poppins" pitchFamily="34" charset="0"/>
              <a:cs typeface="Poppins" pitchFamily="34" charset="-120"/>
            </a:endParaRP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2B43ABA-D52B-DCA4-36CC-6C53225FABEF}"/>
              </a:ext>
            </a:extLst>
          </p:cNvPr>
          <p:cNvSpPr/>
          <p:nvPr/>
        </p:nvSpPr>
        <p:spPr>
          <a:xfrm>
            <a:off x="4965893" y="3370621"/>
            <a:ext cx="2124223" cy="378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b="1" dirty="0">
              <a:solidFill>
                <a:srgbClr val="E3562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F0B6218-80D2-25FA-EAB3-8D0EEB62D1B2}"/>
              </a:ext>
            </a:extLst>
          </p:cNvPr>
          <p:cNvSpPr/>
          <p:nvPr/>
        </p:nvSpPr>
        <p:spPr>
          <a:xfrm>
            <a:off x="5394960" y="3035808"/>
            <a:ext cx="1695156" cy="277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C79C0F7-26AA-3A8D-64F9-67BDE84F828A}"/>
              </a:ext>
            </a:extLst>
          </p:cNvPr>
          <p:cNvSpPr/>
          <p:nvPr/>
        </p:nvSpPr>
        <p:spPr>
          <a:xfrm>
            <a:off x="5394960" y="3256670"/>
            <a:ext cx="3383280" cy="199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E7FF80C-0AA4-CFF0-7216-D964C3357E66}"/>
              </a:ext>
            </a:extLst>
          </p:cNvPr>
          <p:cNvSpPr/>
          <p:nvPr/>
        </p:nvSpPr>
        <p:spPr>
          <a:xfrm>
            <a:off x="4709161" y="3161714"/>
            <a:ext cx="18428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6F40920-4391-D0E2-414D-DE023C1E82C1}"/>
              </a:ext>
            </a:extLst>
          </p:cNvPr>
          <p:cNvSpPr/>
          <p:nvPr/>
        </p:nvSpPr>
        <p:spPr>
          <a:xfrm>
            <a:off x="4608574" y="3370622"/>
            <a:ext cx="132829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C5D12"/>
                </a:solidFill>
              </a:rPr>
              <a:t>Database</a:t>
            </a: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D9ADF6EB-CDC8-D369-FA18-9E08FA540535}"/>
              </a:ext>
            </a:extLst>
          </p:cNvPr>
          <p:cNvSpPr/>
          <p:nvPr/>
        </p:nvSpPr>
        <p:spPr>
          <a:xfrm>
            <a:off x="5394958" y="4783015"/>
            <a:ext cx="3383282" cy="200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806CCF-BC2E-D289-FC85-22226920CE2E}"/>
              </a:ext>
            </a:extLst>
          </p:cNvPr>
          <p:cNvSpPr txBox="1"/>
          <p:nvPr/>
        </p:nvSpPr>
        <p:spPr>
          <a:xfrm>
            <a:off x="4594816" y="2570402"/>
            <a:ext cx="31002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Express.js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MongoDB Community Server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FD4A03-EF0B-7A0E-757C-0402F548CE3F}"/>
              </a:ext>
            </a:extLst>
          </p:cNvPr>
          <p:cNvSpPr txBox="1"/>
          <p:nvPr/>
        </p:nvSpPr>
        <p:spPr>
          <a:xfrm>
            <a:off x="4608575" y="1629039"/>
            <a:ext cx="22529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Vite@latest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React 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React Router v6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C5B22D-BED7-E377-FD03-F19EE96AAC10}"/>
              </a:ext>
            </a:extLst>
          </p:cNvPr>
          <p:cNvSpPr txBox="1"/>
          <p:nvPr/>
        </p:nvSpPr>
        <p:spPr>
          <a:xfrm>
            <a:off x="7308174" y="1665130"/>
            <a:ext cx="13958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Axios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CSS3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JavaScript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C9F6D8-F9C6-DB3B-3A9C-CC2ADF887454}"/>
              </a:ext>
            </a:extLst>
          </p:cNvPr>
          <p:cNvSpPr txBox="1"/>
          <p:nvPr/>
        </p:nvSpPr>
        <p:spPr>
          <a:xfrm>
            <a:off x="7323994" y="2570402"/>
            <a:ext cx="16163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JWT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Node-schedule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JavaScript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27DA65-D0D8-D4C1-A52A-718E61CB28DC}"/>
              </a:ext>
            </a:extLst>
          </p:cNvPr>
          <p:cNvSpPr txBox="1"/>
          <p:nvPr/>
        </p:nvSpPr>
        <p:spPr>
          <a:xfrm>
            <a:off x="4528659" y="3895140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CC5D12"/>
                </a:solidFill>
              </a:rPr>
              <a:t>Flask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1C2253-4EB0-4543-9976-9C21133AD845}"/>
              </a:ext>
            </a:extLst>
          </p:cNvPr>
          <p:cNvSpPr txBox="1"/>
          <p:nvPr/>
        </p:nvSpPr>
        <p:spPr>
          <a:xfrm>
            <a:off x="4528658" y="4119671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CC5D12"/>
                </a:solidFill>
              </a:rPr>
              <a:t>Python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65044B-ED7E-7D05-8EB5-57BBEC7CDCE7}"/>
              </a:ext>
            </a:extLst>
          </p:cNvPr>
          <p:cNvSpPr txBox="1"/>
          <p:nvPr/>
        </p:nvSpPr>
        <p:spPr>
          <a:xfrm>
            <a:off x="4605412" y="3686232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MongoDB Community Server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1C05B7-5814-1F5D-40A7-967D1742EBD0}"/>
              </a:ext>
            </a:extLst>
          </p:cNvPr>
          <p:cNvSpPr txBox="1"/>
          <p:nvPr/>
        </p:nvSpPr>
        <p:spPr>
          <a:xfrm>
            <a:off x="4608575" y="4440079"/>
            <a:ext cx="4328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/>
              <a:t>Manim </a:t>
            </a:r>
            <a:r>
              <a:rPr lang="en-IN" sz="1400" dirty="0"/>
              <a:t>animation engine</a:t>
            </a:r>
          </a:p>
        </p:txBody>
      </p:sp>
    </p:spTree>
    <p:extLst>
      <p:ext uri="{BB962C8B-B14F-4D97-AF65-F5344CB8AC3E}">
        <p14:creationId xmlns:p14="http://schemas.microsoft.com/office/powerpoint/2010/main" val="3887948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>
            <a:extLst>
              <a:ext uri="{FF2B5EF4-FFF2-40B4-BE49-F238E27FC236}">
                <a16:creationId xmlns:a16="http://schemas.microsoft.com/office/drawing/2014/main" id="{208A3661-B7DB-5A60-17E4-7374E9CDD5AE}"/>
              </a:ext>
            </a:extLst>
          </p:cNvPr>
          <p:cNvSpPr/>
          <p:nvPr/>
        </p:nvSpPr>
        <p:spPr>
          <a:xfrm>
            <a:off x="-548640" y="-548640"/>
            <a:ext cx="2743200" cy="2743200"/>
          </a:xfrm>
          <a:prstGeom prst="ellipse">
            <a:avLst/>
          </a:prstGeom>
          <a:solidFill>
            <a:srgbClr val="1A3A3F"/>
          </a:solidFill>
          <a:ln w="12700">
            <a:solidFill>
              <a:srgbClr val="1A3A3F"/>
            </a:solidFill>
            <a:prstDash val="solid"/>
          </a:ln>
        </p:spPr>
      </p:sp>
      <p:sp>
        <p:nvSpPr>
          <p:cNvPr id="52" name="Shape 1">
            <a:extLst>
              <a:ext uri="{FF2B5EF4-FFF2-40B4-BE49-F238E27FC236}">
                <a16:creationId xmlns:a16="http://schemas.microsoft.com/office/drawing/2014/main" id="{609E448E-E8FD-2FBE-A45B-BF073AD87ECC}"/>
              </a:ext>
            </a:extLst>
          </p:cNvPr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1A3A3F"/>
          </a:solidFill>
          <a:ln w="12700">
            <a:solidFill>
              <a:srgbClr val="1A3A3F"/>
            </a:solidFill>
            <a:prstDash val="solid"/>
          </a:ln>
        </p:spPr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2B72F3C6-CB0F-EDA0-5738-9835AD73CF0A}"/>
              </a:ext>
            </a:extLst>
          </p:cNvPr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Meet the Team</a:t>
            </a:r>
            <a:endParaRPr lang="en-US" sz="2600" dirty="0"/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01D06947-F72A-02F3-81CE-1E4D8A9D9909}"/>
              </a:ext>
            </a:extLst>
          </p:cNvPr>
          <p:cNvSpPr/>
          <p:nvPr/>
        </p:nvSpPr>
        <p:spPr>
          <a:xfrm>
            <a:off x="32004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D1A0228C-9510-795E-63DD-6AF170718C68}"/>
              </a:ext>
            </a:extLst>
          </p:cNvPr>
          <p:cNvSpPr/>
          <p:nvPr/>
        </p:nvSpPr>
        <p:spPr>
          <a:xfrm>
            <a:off x="393192" y="16276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Keerthana</a:t>
            </a:r>
            <a:endParaRPr lang="en-US" sz="1000" dirty="0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C85FED52-078C-5AA5-A60B-2B22C9B44324}"/>
              </a:ext>
            </a:extLst>
          </p:cNvPr>
          <p:cNvSpPr/>
          <p:nvPr/>
        </p:nvSpPr>
        <p:spPr>
          <a:xfrm>
            <a:off x="39319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Stack Developer</a:t>
            </a:r>
            <a:endParaRPr lang="en-US" sz="850" dirty="0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5E2265EF-1363-BC55-8622-133FD88017DB}"/>
              </a:ext>
            </a:extLst>
          </p:cNvPr>
          <p:cNvSpPr/>
          <p:nvPr/>
        </p:nvSpPr>
        <p:spPr>
          <a:xfrm>
            <a:off x="246888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4C1E7231-90E1-0DC2-0E39-91B8C5F17E48}"/>
              </a:ext>
            </a:extLst>
          </p:cNvPr>
          <p:cNvSpPr/>
          <p:nvPr/>
        </p:nvSpPr>
        <p:spPr>
          <a:xfrm>
            <a:off x="2542032" y="16276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Likhitha</a:t>
            </a:r>
            <a:endParaRPr lang="en-US" sz="1000" dirty="0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FB641F32-7FC4-F62A-3770-BE4D3FBF02E4}"/>
              </a:ext>
            </a:extLst>
          </p:cNvPr>
          <p:cNvSpPr/>
          <p:nvPr/>
        </p:nvSpPr>
        <p:spPr>
          <a:xfrm>
            <a:off x="254203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UI/UX Designer</a:t>
            </a:r>
            <a:endParaRPr lang="en-US" sz="850" dirty="0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367AD5C0-F38D-6416-F403-3CBCC45CB232}"/>
              </a:ext>
            </a:extLst>
          </p:cNvPr>
          <p:cNvSpPr/>
          <p:nvPr/>
        </p:nvSpPr>
        <p:spPr>
          <a:xfrm>
            <a:off x="461772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DC2CA375-AB7B-A59E-0909-7891E9F8DF08}"/>
              </a:ext>
            </a:extLst>
          </p:cNvPr>
          <p:cNvSpPr/>
          <p:nvPr/>
        </p:nvSpPr>
        <p:spPr>
          <a:xfrm>
            <a:off x="4690872" y="16276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Rokhiya</a:t>
            </a:r>
            <a:endParaRPr lang="en-US" sz="1000" dirty="0"/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87C15FF5-1D60-AB73-5E7F-10D748ADDA4E}"/>
              </a:ext>
            </a:extLst>
          </p:cNvPr>
          <p:cNvSpPr/>
          <p:nvPr/>
        </p:nvSpPr>
        <p:spPr>
          <a:xfrm>
            <a:off x="469087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Integration</a:t>
            </a:r>
            <a:endParaRPr lang="en-US" sz="850" dirty="0"/>
          </a:p>
        </p:txBody>
      </p:sp>
      <p:sp>
        <p:nvSpPr>
          <p:cNvPr id="69" name="Shape 15">
            <a:extLst>
              <a:ext uri="{FF2B5EF4-FFF2-40B4-BE49-F238E27FC236}">
                <a16:creationId xmlns:a16="http://schemas.microsoft.com/office/drawing/2014/main" id="{AF495714-D230-4B9D-15CA-250AC5A9281D}"/>
              </a:ext>
            </a:extLst>
          </p:cNvPr>
          <p:cNvSpPr/>
          <p:nvPr/>
        </p:nvSpPr>
        <p:spPr>
          <a:xfrm>
            <a:off x="676656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D6DA7159-2B61-F3FD-6B85-E952A8D36333}"/>
              </a:ext>
            </a:extLst>
          </p:cNvPr>
          <p:cNvSpPr/>
          <p:nvPr/>
        </p:nvSpPr>
        <p:spPr>
          <a:xfrm>
            <a:off x="6766560" y="1666319"/>
            <a:ext cx="1773936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Vyshnavi</a:t>
            </a:r>
            <a:endParaRPr lang="en-US" sz="1000" dirty="0"/>
          </a:p>
        </p:txBody>
      </p:sp>
      <p:sp>
        <p:nvSpPr>
          <p:cNvPr id="73" name="Text 18">
            <a:extLst>
              <a:ext uri="{FF2B5EF4-FFF2-40B4-BE49-F238E27FC236}">
                <a16:creationId xmlns:a16="http://schemas.microsoft.com/office/drawing/2014/main" id="{8B865300-9D79-F156-6FA2-0367C7427A0B}"/>
              </a:ext>
            </a:extLst>
          </p:cNvPr>
          <p:cNvSpPr/>
          <p:nvPr/>
        </p:nvSpPr>
        <p:spPr>
          <a:xfrm>
            <a:off x="683971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&amp; DevOps</a:t>
            </a:r>
            <a:endParaRPr lang="en-US" sz="850" dirty="0"/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E7559B2E-411C-BA9B-CECE-900EA1AB1184}"/>
              </a:ext>
            </a:extLst>
          </p:cNvPr>
          <p:cNvSpPr/>
          <p:nvPr/>
        </p:nvSpPr>
        <p:spPr>
          <a:xfrm>
            <a:off x="365760" y="2377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Learnings</a:t>
            </a:r>
            <a:endParaRPr lang="en-US" sz="1500" dirty="0"/>
          </a:p>
        </p:txBody>
      </p:sp>
      <p:sp>
        <p:nvSpPr>
          <p:cNvPr id="75" name="Text 20">
            <a:extLst>
              <a:ext uri="{FF2B5EF4-FFF2-40B4-BE49-F238E27FC236}">
                <a16:creationId xmlns:a16="http://schemas.microsoft.com/office/drawing/2014/main" id="{271DCE4B-8404-B1E1-CA1A-DDE0466311A5}"/>
              </a:ext>
            </a:extLst>
          </p:cNvPr>
          <p:cNvSpPr/>
          <p:nvPr/>
        </p:nvSpPr>
        <p:spPr>
          <a:xfrm>
            <a:off x="365760" y="27889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Designing scalable full-stack web architectures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Integrating AI APIs for content generation &amp; verification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Building real-time communication with Socket.IO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Implementing gamification for user engagement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Workflow automation using n8n for notifications</a:t>
            </a:r>
            <a:endParaRPr lang="en-US" sz="1200" dirty="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FC824A3B-6BDE-BF38-E230-9FD111E0251E}"/>
              </a:ext>
            </a:extLst>
          </p:cNvPr>
          <p:cNvSpPr/>
          <p:nvPr/>
        </p:nvSpPr>
        <p:spPr>
          <a:xfrm>
            <a:off x="5085471" y="2461846"/>
            <a:ext cx="3692769" cy="21305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279FDBC8-152F-F5D6-52FC-A73B3E34EE1D}"/>
              </a:ext>
            </a:extLst>
          </p:cNvPr>
          <p:cNvSpPr/>
          <p:nvPr/>
        </p:nvSpPr>
        <p:spPr>
          <a:xfrm>
            <a:off x="5634110" y="3648457"/>
            <a:ext cx="2799471" cy="586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0818D9C5-2F03-5311-AB67-1BD5B76F5680}"/>
              </a:ext>
            </a:extLst>
          </p:cNvPr>
          <p:cNvSpPr/>
          <p:nvPr/>
        </p:nvSpPr>
        <p:spPr>
          <a:xfrm>
            <a:off x="5029200" y="41696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0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&amp; Feedback Welcome</a:t>
            </a:r>
            <a:endParaRPr lang="en-US" sz="1100" dirty="0"/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A8F4A73D-F1DC-7B6B-03D3-B7A08E815DD9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9FC66DF8-41A5-AFD7-D4C1-B434BEB6A821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CohortConnect  |  Connecting Campus Communities  |  2025</a:t>
            </a:r>
            <a:endParaRPr lang="en-US" sz="900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30F8BF55-B211-D657-4718-25AFB1A9E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298" y="2487168"/>
            <a:ext cx="1760377" cy="1347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563D75-8621-D78B-7634-45BDD51F8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810" y="872814"/>
            <a:ext cx="804672" cy="810556"/>
          </a:xfrm>
          <a:prstGeom prst="ellipse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FE7A93-6DC2-F1D9-D9E2-6D2443E49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33" y="880593"/>
            <a:ext cx="800804" cy="800804"/>
          </a:xfrm>
          <a:prstGeom prst="ellipse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8735DD-7BA7-0EFA-8D7F-57D81E74C8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3980" y="872814"/>
            <a:ext cx="800804" cy="800804"/>
          </a:xfrm>
          <a:prstGeom prst="flowChartConnector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659672A-A0BB-275F-EAE0-524D7610CB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4494" y="880593"/>
            <a:ext cx="800804" cy="822734"/>
          </a:xfrm>
          <a:prstGeom prst="flowChartConnector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D3A3F"/>
        </a:solidFill>
        <a:ln w="12700">
          <a:solidFill>
            <a:schemeClr val="bg1"/>
          </a:solidFill>
        </a:ln>
      </a:spPr>
      <a:bodyPr rtlCol="0" anchor="ctr">
        <a:normAutofit/>
      </a:bodyPr>
      <a:lstStyle>
        <a:defPPr algn="ctr">
          <a:defRPr>
            <a:blipFill>
              <a:blip xmlns:r="http://schemas.openxmlformats.org/officeDocument/2006/relationships" r:embed="rId1"/>
              <a:tile tx="0" ty="0" sx="100000" sy="100000" flip="none" algn="tl"/>
            </a:blip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490</Words>
  <Application>Microsoft Office PowerPoint</Application>
  <PresentationFormat>On-screen Show (16:9)</PresentationFormat>
  <Paragraphs>129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CohortConnect</dc:title>
  <dc:subject>PptxGenJS Presentation</dc:subject>
  <dc:creator>PptxGenJS</dc:creator>
  <cp:lastModifiedBy>Surneedi Likhitha sai naga prasanna</cp:lastModifiedBy>
  <cp:revision>17</cp:revision>
  <dcterms:created xsi:type="dcterms:W3CDTF">2026-05-08T05:02:24Z</dcterms:created>
  <dcterms:modified xsi:type="dcterms:W3CDTF">2026-05-11T09:15:03Z</dcterms:modified>
</cp:coreProperties>
</file>